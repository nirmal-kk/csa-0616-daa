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8318-7B79-49A9-927E-1DFE519A9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5D18C-0337-4CB7-AD31-2E4A2526E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2023B-81D9-4E97-ADF5-85197D6E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E8941-B5A4-4386-B6A5-F042E648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8051-137B-41B9-AF92-FAB2BA7D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2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431A-DCD4-488A-810E-121785D9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B1EF-F4BA-4E8C-ABA7-0EF842CA6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A562D-2819-4CCB-94DE-DF6BBF36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B218-4C58-4C26-BDE4-5D5EED7F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9A9FC-CA81-42A6-8EAB-6D4B34F6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0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C9F1-B278-49D7-9BE0-1AA1546C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6D963-F1D5-45E0-BAC3-BA3B7DBF8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161E5-24F6-46D3-A69A-44D4485C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8131B-5E11-4EA3-AF69-2803E232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6FE72-AEC0-440F-A32D-A3524A9A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3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21C8-5DAA-4D7D-908A-590E43C5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14801-C2D2-4ED8-A5D1-BEA5BF1B8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80BF3-5D19-4BD2-93D7-0632264AB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B2B56-BD80-45FD-A392-14400CEE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EB7BF-1115-4E99-9670-68FE97CA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3221B-8F2B-42DE-AE18-584FB19A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3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32A4-1AD1-4282-BCAD-5B5FCAFE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23CA-01A8-4A50-A12F-96E99EE89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2399F-3C68-459B-BB33-4A37FCA4E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4B4A1-F5DB-4C89-8EA3-D311A4008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86439-1990-456C-94F9-847BB8FAC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4CE23-A8FF-4760-AF33-521A3E2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22FB-B82A-4E0E-913A-3D3A7D50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2EA98F-95ED-47FE-98DA-6D617D50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65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16EF-B6F3-455C-880B-D2236015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AF21E-0FC2-4389-B343-5EE45749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7697F-56B1-4696-A87B-24AE6A59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AD518-DBAE-456B-95D7-39CF0501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2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E855D2-BD68-462F-97B5-EFA6530E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2B46A-EB76-4696-904A-7717E31C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BD13D-73AE-40A8-8FD1-B6A8E50B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B728-E0CC-4768-B486-776A6D0F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066B-34A7-4EFA-941B-F6A722F46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9F8E1-3C70-4BCA-90BC-7D15BA722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94014-1E71-4B79-80F0-60DDFDDC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ABDF2-4B6D-4824-8070-01D9A251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7A01E-AC94-44C8-9811-1731ED28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9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F701-2E1F-4CD5-8EC7-7D903BD2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88CD0B-99BF-4D57-851F-540647637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31986-A7B7-4BA5-82C9-94248953D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F0D53-7D01-442E-BE4C-9EB5FDDA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97041-281C-48AD-B2C0-218CAD97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8B558-823E-4AA0-A36A-E832B901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1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8008-318E-49C6-B906-B41E3211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84D85-F851-469A-96DF-7BA352270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73DA4-6E22-478B-A336-EBD0EF59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4532-193B-412F-839B-22DAF258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EAF2E-B85F-4BE0-A4C8-004FF4CA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0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CC532-8ED2-4057-855D-ADEC54422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77EA3-64CB-4FC5-B3B4-B4D161951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10863-8934-4599-979A-2931842E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4F92-D259-4F45-906B-74801B6D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D13FC-ED64-4F82-90BD-C08BC092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1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FF279-9917-4A3F-9A98-C7DDF790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296AF-09E3-4A4A-977D-0C91B6C29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58C73-857C-4AC0-9ED3-B85AA79DD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C1ABD-348E-4AC0-B5B8-13DB5A8285E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91FB-A80D-434C-A9EB-15C1F9617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1CFF-3E3D-42C4-BD6B-61D8FE93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20CAB-A8DB-4988-984A-35763AEA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3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6A1C-8D99-4722-A49B-CF7215453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Analysis for Polynomial Combine 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BB277-FA24-4364-944B-8699F4495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/>
              <a:t>Recurrence Relation:</a:t>
            </a:r>
            <a:endParaRPr lang="fr-FR"/>
          </a:p>
          <a:p>
            <a:endParaRPr lang="fr-FR" b="1"/>
          </a:p>
          <a:p>
            <a:r>
              <a:rPr lang="fr-FR" b="1"/>
              <a:t>CSA0614 - Design and Analysis of Algorithms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E8444-C2DE-4F82-B7E2-79FB232F2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050" y="4003267"/>
            <a:ext cx="3253899" cy="537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2C57B0-E6CA-4B08-8A0B-26853F960D2D}"/>
              </a:ext>
            </a:extLst>
          </p:cNvPr>
          <p:cNvSpPr txBox="1"/>
          <p:nvPr/>
        </p:nvSpPr>
        <p:spPr>
          <a:xfrm>
            <a:off x="2952749" y="5154801"/>
            <a:ext cx="6286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Nirmal Kasi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192424248</a:t>
            </a:r>
          </a:p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B.Tech Artificial Intelligence And Data Science</a:t>
            </a:r>
          </a:p>
        </p:txBody>
      </p:sp>
    </p:spTree>
    <p:extLst>
      <p:ext uri="{BB962C8B-B14F-4D97-AF65-F5344CB8AC3E}">
        <p14:creationId xmlns:p14="http://schemas.microsoft.com/office/powerpoint/2010/main" val="117322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7F71-D318-44AC-A87F-54666FB1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433EC-53E4-44A6-8891-3BC42F20C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Problem</a:t>
            </a:r>
          </a:p>
          <a:p>
            <a:r>
              <a:rPr lang="en-US"/>
              <a:t>Analyze the recurrence</a:t>
            </a:r>
          </a:p>
          <a:p>
            <a:r>
              <a:rPr lang="en-US"/>
              <a:t> 			   using the </a:t>
            </a:r>
            <a:r>
              <a:rPr lang="en-US" b="1"/>
              <a:t>Recursion Tree Method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Objectives</a:t>
            </a:r>
          </a:p>
          <a:p>
            <a:r>
              <a:rPr lang="en-US"/>
              <a:t>Construct the recursion tree. </a:t>
            </a:r>
          </a:p>
          <a:p>
            <a:r>
              <a:rPr lang="en-US"/>
              <a:t>Calculate the cost at each level. </a:t>
            </a:r>
          </a:p>
          <a:p>
            <a:r>
              <a:rPr lang="en-US"/>
              <a:t>Find the total running time. </a:t>
            </a:r>
          </a:p>
          <a:p>
            <a:r>
              <a:rPr lang="en-US"/>
              <a:t>Verify the answer using the Master Theorem. </a:t>
            </a:r>
          </a:p>
          <a:p>
            <a:r>
              <a:rPr lang="en-US"/>
              <a:t>Compare both methods.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A3300-DC26-4263-9502-B0BBD596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29" y="2744178"/>
            <a:ext cx="2540308" cy="43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0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2014-B32D-469C-8361-7553FAEB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7B51-078C-4308-8BF3-952E78A3D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The recursion tree represents every recursive call as a node.</a:t>
            </a:r>
          </a:p>
          <a:p>
            <a:pPr marL="0" indent="0">
              <a:buNone/>
            </a:pPr>
            <a:r>
              <a:rPr lang="en-US" b="1"/>
              <a:t>Steps</a:t>
            </a:r>
          </a:p>
          <a:p>
            <a:r>
              <a:rPr lang="en-US"/>
              <a:t>Expand recursive calls. </a:t>
            </a:r>
          </a:p>
          <a:p>
            <a:r>
              <a:rPr lang="en-US"/>
              <a:t>Find the work done at each level. </a:t>
            </a:r>
          </a:p>
          <a:p>
            <a:r>
              <a:rPr lang="en-US"/>
              <a:t>Count the number of levels. </a:t>
            </a:r>
          </a:p>
          <a:p>
            <a:r>
              <a:rPr lang="en-US"/>
              <a:t>Add all level costs. </a:t>
            </a:r>
          </a:p>
          <a:p>
            <a:r>
              <a:rPr lang="en-US"/>
              <a:t>Simplify the summation. </a:t>
            </a:r>
          </a:p>
          <a:p>
            <a:r>
              <a:rPr lang="en-US"/>
              <a:t>The combine cost at every node is:</a:t>
            </a:r>
          </a:p>
          <a:p>
            <a:pPr marL="0" indent="0" algn="ctr">
              <a:buNone/>
            </a:pPr>
            <a:r>
              <a:rPr lang="en-US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51937-2CE0-4026-81E6-C2F453AE0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723" y="5541261"/>
            <a:ext cx="998033" cy="9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1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C234-E9E1-4240-A4D5-483CE4BC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Pseudocode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B65620-7D17-4A74-8D45-5330DE3CFB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Function T(n)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n = 1 </a:t>
            </a:r>
            <a:endParaRPr lang="en-US" altLang="en-US" sz="260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return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>
                <a:latin typeface="Arial Unicode MS"/>
              </a:rPr>
              <a:t>	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Divide problem into 4 subproblems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>
                <a:latin typeface="Arial Unicode MS"/>
              </a:rPr>
              <a:t>	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Solve each subproblem recursively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>
                <a:latin typeface="Arial Unicode MS"/>
              </a:rPr>
              <a:t>	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Combine solutions with cost n²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 total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Recurrence: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7DB6D-74F0-494B-A246-214DA39E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24" y="5295649"/>
            <a:ext cx="3739960" cy="64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1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8A44-78CD-43E8-8771-D89EBEDB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 (Dry Run)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10642-C1A0-42A3-BEB7-5D353C7CC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53640" cy="4908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CFD2D-0607-428F-B32B-5B8B31F91123}"/>
              </a:ext>
            </a:extLst>
          </p:cNvPr>
          <p:cNvSpPr/>
          <p:nvPr/>
        </p:nvSpPr>
        <p:spPr>
          <a:xfrm>
            <a:off x="838200" y="2510196"/>
            <a:ext cx="24536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 	      n²</a:t>
            </a:r>
          </a:p>
          <a:p>
            <a:r>
              <a:rPr lang="en-US"/>
              <a:t>                   / | | \</a:t>
            </a:r>
          </a:p>
          <a:p>
            <a:r>
              <a:rPr lang="en-US"/>
              <a:t>             4 × (n/2)²</a:t>
            </a:r>
          </a:p>
          <a:p>
            <a:r>
              <a:rPr lang="en-US"/>
              <a:t>           / / / /   ...</a:t>
            </a:r>
          </a:p>
          <a:p>
            <a:r>
              <a:rPr lang="en-US"/>
              <a:t>      16 × (n/4)²</a:t>
            </a:r>
          </a:p>
          <a:p>
            <a:r>
              <a:rPr lang="en-US"/>
              <a:t>      / / / ...</a:t>
            </a:r>
          </a:p>
          <a:p>
            <a:r>
              <a:rPr lang="en-US"/>
              <a:t>64 × (n/8)²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767FB-A8D6-40DB-97D5-CCC14AAC707F}"/>
              </a:ext>
            </a:extLst>
          </p:cNvPr>
          <p:cNvSpPr/>
          <p:nvPr/>
        </p:nvSpPr>
        <p:spPr>
          <a:xfrm>
            <a:off x="3566234" y="1824037"/>
            <a:ext cx="182293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Level Costs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76F05A-C02C-40CD-BF2D-C2F1C97DE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45741"/>
              </p:ext>
            </p:extLst>
          </p:nvPr>
        </p:nvGraphicFramePr>
        <p:xfrm>
          <a:off x="3596640" y="2449829"/>
          <a:ext cx="7757162" cy="2648748"/>
        </p:xfrm>
        <a:graphic>
          <a:graphicData uri="http://schemas.openxmlformats.org/drawingml/2006/table">
            <a:tbl>
              <a:tblPr/>
              <a:tblGrid>
                <a:gridCol w="1916486">
                  <a:extLst>
                    <a:ext uri="{9D8B030D-6E8A-4147-A177-3AD203B41FA5}">
                      <a16:colId xmlns:a16="http://schemas.microsoft.com/office/drawing/2014/main" val="915448066"/>
                    </a:ext>
                  </a:extLst>
                </a:gridCol>
                <a:gridCol w="1946892">
                  <a:extLst>
                    <a:ext uri="{9D8B030D-6E8A-4147-A177-3AD203B41FA5}">
                      <a16:colId xmlns:a16="http://schemas.microsoft.com/office/drawing/2014/main" val="2659802636"/>
                    </a:ext>
                  </a:extLst>
                </a:gridCol>
                <a:gridCol w="1946892">
                  <a:extLst>
                    <a:ext uri="{9D8B030D-6E8A-4147-A177-3AD203B41FA5}">
                      <a16:colId xmlns:a16="http://schemas.microsoft.com/office/drawing/2014/main" val="1766705642"/>
                    </a:ext>
                  </a:extLst>
                </a:gridCol>
                <a:gridCol w="1946892">
                  <a:extLst>
                    <a:ext uri="{9D8B030D-6E8A-4147-A177-3AD203B41FA5}">
                      <a16:colId xmlns:a16="http://schemas.microsoft.com/office/drawing/2014/main" val="3427199488"/>
                    </a:ext>
                  </a:extLst>
                </a:gridCol>
              </a:tblGrid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Cost per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Total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976794"/>
                  </a:ext>
                </a:extLst>
              </a:tr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183964"/>
                  </a:ext>
                </a:extLst>
              </a:tr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(n/2)²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75248"/>
                  </a:ext>
                </a:extLst>
              </a:tr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(n/4)²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439352"/>
                  </a:ext>
                </a:extLst>
              </a:tr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(n/8)²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620994"/>
                  </a:ext>
                </a:extLst>
              </a:tr>
              <a:tr h="441458">
                <a:tc>
                  <a:txBody>
                    <a:bodyPr/>
                    <a:lstStyle/>
                    <a:p>
                      <a:r>
                        <a:rPr lang="en-US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(n/2ᵏ)²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35214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79473DE-4804-44B6-A9D1-3B650A5F03AE}"/>
              </a:ext>
            </a:extLst>
          </p:cNvPr>
          <p:cNvSpPr/>
          <p:nvPr/>
        </p:nvSpPr>
        <p:spPr>
          <a:xfrm>
            <a:off x="3939540" y="5231926"/>
            <a:ext cx="43129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Each level contributes exactly</a:t>
            </a:r>
          </a:p>
          <a:p>
            <a:pPr algn="ctr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EBD1A-BA80-406D-A658-34345FA6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46" y="6042834"/>
            <a:ext cx="645107" cy="61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5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D7D1-B493-4630-9FCD-4D0DE0DB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4FD78-702F-4DD1-8518-A9F6E79E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190182" cy="2755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F10C9C-01CB-4CC4-BC12-0CE470AC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220429" cy="4372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1AE58F-2EBA-4FCB-A55C-C2BB45D2B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17603"/>
            <a:ext cx="4190182" cy="114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2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01E3-049A-4F7B-B80F-4AECCE8E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8A8B6A-A05E-4088-AC92-C1B2BF6DC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03193"/>
              </p:ext>
            </p:extLst>
          </p:nvPr>
        </p:nvGraphicFramePr>
        <p:xfrm>
          <a:off x="838200" y="1690688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441826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8437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31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Recursion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/>
                        <a:t>Θ(</a:t>
                      </a:r>
                      <a:r>
                        <a:rPr lang="en-US"/>
                        <a:t>n²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34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Master Theorem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/>
                        <a:t>Θ(</a:t>
                      </a:r>
                      <a:r>
                        <a:rPr lang="en-US"/>
                        <a:t>n²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69448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531169A-C8CD-41C4-92DE-74B943CA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6251"/>
            <a:ext cx="5096586" cy="2981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A41D3-6D56-4B3F-8038-5D887D79E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82" y="3284265"/>
            <a:ext cx="5081518" cy="24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0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86EA-D60D-4B4D-B167-78113AD2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5ACF6-FEA5-4CF8-9977-D70DA1531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348" y="1983280"/>
            <a:ext cx="7801303" cy="435133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Recurrences of this form appear in: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Merge-based algorithms with expensive merging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Matrix computations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Parallel divide-and-conquer algorithms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geometry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6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EB8C-BEEB-4530-8896-5A530432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BB409-F65B-405E-8B06-CAD8C3D8E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2434" cy="118558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Using recursion tree analysis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55EF6-4B77-4C96-9343-36829B3A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271" y="2099972"/>
            <a:ext cx="3018320" cy="6368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8D1EAF-E50B-486B-AB03-B342CB2CCFE6}"/>
              </a:ext>
            </a:extLst>
          </p:cNvPr>
          <p:cNvSpPr/>
          <p:nvPr/>
        </p:nvSpPr>
        <p:spPr>
          <a:xfrm>
            <a:off x="838200" y="3146151"/>
            <a:ext cx="105156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Every level performs equal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logarithmic levels.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grows 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provides visual understanding.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provides a faster mathematical verification.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8E26B-FFC0-41DC-873B-925CE7C36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90" y="4466677"/>
            <a:ext cx="912810" cy="30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5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45A-7BB6-41F3-9D2C-E8207068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4AB5-D3B4-4C10-8FE0-B6D4E9997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was analyzed using the Recursion Tree Method.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Every level contributes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n²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work.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tree has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log₂n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levels.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Total complexity is</a:t>
            </a:r>
          </a:p>
          <a:p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matches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Case 2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739BC-335E-44A3-80BB-1A2F8D7F1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46" y="4269805"/>
            <a:ext cx="1445575" cy="4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0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387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Times New Roman</vt:lpstr>
      <vt:lpstr>Office Theme</vt:lpstr>
      <vt:lpstr>Recursion Tree Analysis for Polynomial Combine Cost</vt:lpstr>
      <vt:lpstr>Problem Statement</vt:lpstr>
      <vt:lpstr>Algorithm Overview</vt:lpstr>
      <vt:lpstr>Algorithm / Pseudocode</vt:lpstr>
      <vt:lpstr>Working Example (Dry Run)</vt:lpstr>
      <vt:lpstr>Complexity Analysis</vt:lpstr>
      <vt:lpstr>Comparative Analysis</vt:lpstr>
      <vt:lpstr>Applications</vt:lpstr>
      <vt:lpstr>Results &amp; Discussion</vt:lpstr>
      <vt:lpstr>Conclusion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 Tree Analysis for Polynomial Combine Cost</dc:title>
  <dc:creator>cryo zero</dc:creator>
  <cp:lastModifiedBy>cryo zero</cp:lastModifiedBy>
  <cp:revision>3</cp:revision>
  <dcterms:created xsi:type="dcterms:W3CDTF">2026-07-19T14:59:02Z</dcterms:created>
  <dcterms:modified xsi:type="dcterms:W3CDTF">2026-07-20T08:45:00Z</dcterms:modified>
</cp:coreProperties>
</file>